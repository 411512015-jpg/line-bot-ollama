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0:00–0:10｜開場。這是一個放在 LINE 裡的 AI 記帳小幫手；今天用展示頁跑給大家看，因為它和 LINE 版共用同一個流程，但不需要把 token 放進畫面。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0:10–0:20｜問題有三個：記帳要開 App、查資料要切 App、雲端 AI 有費用與隱私顾虑。這個專案給誰用？主要是常用 LINE 的學生與小型團隊。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0:20–0:55｜先講兩種模式，再點『咖啡 45 元』。等待時指右側流程：Apps Script 收訊息、Flask 本地解析、累計、回覆。接著點『Uber 60』，讓累計加總。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1:05–1:18｜雲端只負責收發與轉接，搜尋與推論在自己的電腦。三個設計理由：Apps Script 不用養伺服器；本機模型免逐字費用；附來源讓使用者可以查證。最大限制是電腦要開著。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1:18–1:25｜如果時間不夠，只講兩個：非同步避免逾時、先搜尋再生成所以有來源。2B 與暖機是為了在 CPU 上把延遲壓到可接受。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1:25–1:35｜17 個測試全過，暖機後記帳約 0.3 秒，掃描 0 金鑰。限制要主動講：電腦要開、網址會變、分類是 heuristic、Webhook 還沒驗簽章。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1:35–1:30｜收尾。下一步是固定網域、補 Webhook 簽章、記帳進化、檢索進化。最後說：90 秒，讓它跑一次，謝謝。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0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57200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1C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75488"/>
            <a:ext cx="2606040" cy="329184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7F9D8"/>
                </a:solidFill>
                <a:latin typeface="Microsoft JhengHei"/>
              </a:rPr>
              <a:t>MIDTERM PROJECT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667512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把 LINE 變成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667512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6C755"/>
                </a:solidFill>
                <a:latin typeface="Microsoft JhengHei"/>
              </a:rPr>
              <a:t>會記帳的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87168"/>
            <a:ext cx="667512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AI 記帳小幫手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80"/>
            <a:ext cx="612648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D3C3"/>
                </a:solidFill>
                <a:latin typeface="Microsoft JhengHei"/>
              </a:rPr>
              <a:t>同一個聊天視窗，兩種工作流：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D3C3"/>
                </a:solidFill>
                <a:latin typeface="Microsoft JhengHei"/>
              </a:rPr>
              <a:t>「咖啡 45 元」自動記帳、分類、累計；「查 …」得到有來源的答案。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754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1C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773168"/>
            <a:ext cx="1234440" cy="329184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6C755"/>
                </a:solidFill>
                <a:latin typeface="Microsoft JhengHei"/>
              </a:rPr>
              <a:t>記帳自動分類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4754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1C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4773168"/>
            <a:ext cx="1234440" cy="329184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8A4C"/>
                </a:solidFill>
                <a:latin typeface="Microsoft JhengHei"/>
              </a:rPr>
              <a:t>免 API 費用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4754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1C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4773168"/>
            <a:ext cx="1234440" cy="329184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7F9D8"/>
                </a:solidFill>
                <a:latin typeface="Microsoft JhengHei"/>
              </a:rPr>
              <a:t>今日＋本月累計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89320"/>
            <a:ext cx="6858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F8A7B"/>
                </a:solidFill>
                <a:latin typeface="Microsoft JhengHei"/>
              </a:rPr>
              <a:t>90 秒 Demo：咖啡 45 元  →  Uber 60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658368"/>
            <a:ext cx="3977639" cy="5440680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12700">
            <a:solidFill>
              <a:srgbClr val="2C4A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ne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2" y="777240"/>
            <a:ext cx="3862524" cy="5212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F8A7B"/>
                </a:solidFill>
                <a:latin typeface="Microsoft JhengHei"/>
              </a:rPr>
              <a:t>LINE Bot × Local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59436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F8A7B"/>
                </a:solidFill>
                <a:latin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572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49B43"/>
                </a:solidFill>
                <a:latin typeface="Microsoft JhengHei"/>
              </a:rPr>
              <a:t>01 /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51560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019"/>
                </a:solidFill>
                <a:latin typeface="Microsoft JhengHei"/>
              </a:rPr>
              <a:t>記帳，本來就該很簡單。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331720"/>
            <a:ext cx="3456432" cy="26060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42032"/>
            <a:ext cx="54864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49B43"/>
                </a:solidFill>
                <a:latin typeface="Microsoft Jheng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92608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2019"/>
                </a:solidFill>
                <a:latin typeface="Microsoft JhengHei"/>
              </a:rPr>
              <a:t>記帳要開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47288"/>
            <a:ext cx="2880360" cy="12344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56C"/>
                </a:solidFill>
                <a:latin typeface="Microsoft JhengHei"/>
              </a:rPr>
              <a:t>手動打類別、換工具、整理匯總。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56C"/>
                </a:solidFill>
                <a:latin typeface="Microsoft JhengHei"/>
              </a:rPr>
              <a:t>不想為每筆花費開一個 App。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7" y="2331720"/>
            <a:ext cx="3456432" cy="26060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542032"/>
            <a:ext cx="54864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49B43"/>
                </a:solidFill>
                <a:latin typeface="Microsoft Jheng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26080"/>
            <a:ext cx="292608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2019"/>
                </a:solidFill>
                <a:latin typeface="Microsoft JhengHei"/>
              </a:rPr>
              <a:t>查資料要切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447288"/>
            <a:ext cx="2880360" cy="12344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56C"/>
                </a:solidFill>
                <a:latin typeface="Microsoft JhengHei"/>
              </a:rPr>
              <a:t>在 LINE 裡問，切到瀏覽器搜尋，看完再切回來。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56C"/>
                </a:solidFill>
                <a:latin typeface="Microsoft JhengHei"/>
              </a:rPr>
              <a:t>注意力被切成三段。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2331720"/>
            <a:ext cx="3456432" cy="26060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542032"/>
            <a:ext cx="54864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49B43"/>
                </a:solidFill>
                <a:latin typeface="Microsoft Jheng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26080"/>
            <a:ext cx="292608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2019"/>
                </a:solidFill>
                <a:latin typeface="Microsoft JhengHei"/>
              </a:rPr>
              <a:t>雲端 AI 有成本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47288"/>
            <a:ext cx="2880360" cy="12344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56C"/>
                </a:solidFill>
                <a:latin typeface="Microsoft JhengHei"/>
              </a:rPr>
              <a:t>逐字計費、需要 API key；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56C"/>
                </a:solidFill>
                <a:latin typeface="Microsoft JhengHei"/>
              </a:rPr>
              <a:t>敏感內容也不一定想送出門。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349240"/>
            <a:ext cx="10927080" cy="777240"/>
          </a:xfrm>
          <a:prstGeom prst="roundRect">
            <a:avLst>
              <a:gd name="adj" fmla="val 18000"/>
            </a:avLst>
          </a:prstGeom>
          <a:solidFill>
            <a:srgbClr val="142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40680"/>
            <a:ext cx="10424160" cy="5029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7F9D8"/>
                </a:solidFill>
                <a:latin typeface="Microsoft JhengHei"/>
              </a:rPr>
              <a:t>主要使用者：常用 LINE 的學生與小型團隊　·　設計目標：不離開聊天室、記帳免 API、累計即時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B9A91"/>
                </a:solidFill>
                <a:latin typeface="Microsoft JhengHei"/>
              </a:rPr>
              <a:t>LINE Bot × Local 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59436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B9A91"/>
                </a:solidFill>
                <a:latin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572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49B43"/>
                </a:solidFill>
                <a:latin typeface="Microsoft JhengHei"/>
              </a:rPr>
              <a:t>02 /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731520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019"/>
                </a:solidFill>
                <a:latin typeface="Microsoft JhengHei"/>
              </a:rPr>
              <a:t>一個入口，兩種模式。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6720840" cy="19659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91440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49B43"/>
                </a:solidFill>
                <a:latin typeface="Microsoft JhengHei"/>
              </a:rPr>
              <a:t>查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50592"/>
            <a:ext cx="612648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019"/>
                </a:solidFill>
                <a:latin typeface="Microsoft JhengHei"/>
              </a:rPr>
              <a:t>先搜尋，再讓本機模型整理；答案最後附來源。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07792"/>
            <a:ext cx="603504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56C"/>
                </a:solidFill>
                <a:latin typeface="Microsoft JhengHei"/>
              </a:rPr>
              <a:t>查 玉山有多高   →   3,950 公尺＋Wikipedia 來源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977639"/>
            <a:ext cx="6720840" cy="1691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F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137160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1"/>
                </a:solidFill>
                <a:latin typeface="Microsoft JhengHei"/>
              </a:rPr>
              <a:t>咖啡 45 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45152"/>
            <a:ext cx="603504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019"/>
                </a:solidFill>
                <a:latin typeface="Microsoft JhengHei"/>
              </a:rPr>
              <a:t>本地解析 merchant＋amount，分類後累計今日／本月。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60350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56C"/>
                </a:solidFill>
                <a:latin typeface="Microsoft JhengHei"/>
              </a:rPr>
              <a:t>咖啡 45 元 → 已記帳（飲食），今日累計…　／　上個月累計…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65836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49B43"/>
                </a:solidFill>
                <a:latin typeface="Microsoft JhengHei"/>
              </a:rPr>
              <a:t>同一套 /ask 流程；展示頁不需要 LINE token。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658368"/>
            <a:ext cx="3977639" cy="5440680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hone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2" y="777240"/>
            <a:ext cx="3862524" cy="5212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B9A91"/>
                </a:solidFill>
                <a:latin typeface="Microsoft JhengHei"/>
              </a:rPr>
              <a:t>LINE Bot × Local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59436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B9A91"/>
                </a:solidFill>
                <a:latin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82880"/>
            <a:ext cx="11548872" cy="649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0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572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C755"/>
                </a:solidFill>
                <a:latin typeface="Microsoft JhengHei"/>
              </a:rPr>
              <a:t>03 /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42416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讓它能跑，而不是只看起來能跑。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A2F23"/>
          </a:solidFill>
          <a:ln w="12700">
            <a:solidFill>
              <a:srgbClr val="2C4A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84248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6C755"/>
                </a:solidFill>
                <a:latin typeface="Microsoft Jheng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50008"/>
            <a:ext cx="4480560" cy="38404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非同步 202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48056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Apps Script 先回 200，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Flask 算完再直接呼叫 Reply API。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00984"/>
            <a:ext cx="448056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7F9D8"/>
                </a:solidFill>
                <a:latin typeface="Microsoft JhengHei"/>
              </a:rPr>
              <a:t>避免 LINE Webhook 逾時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0488" y="178308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A2F23"/>
          </a:solidFill>
          <a:ln w="12700">
            <a:solidFill>
              <a:srgbClr val="2C4A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84248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6C755"/>
                </a:solidFill>
                <a:latin typeface="Microsoft Jheng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350008"/>
            <a:ext cx="4480560" cy="38404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先搜尋，再生成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88920"/>
            <a:ext cx="448056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Google News RSS＋Wikipedia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只把前 3 筆放進 prompt。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300984"/>
            <a:ext cx="448056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7F9D8"/>
                </a:solidFill>
                <a:latin typeface="Microsoft JhengHei"/>
              </a:rPr>
              <a:t>答案附來源，降低幻覺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67911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A2F23"/>
          </a:solidFill>
          <a:ln w="12700">
            <a:solidFill>
              <a:srgbClr val="2C4A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69079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6C755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4480560" cy="38404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2B＋暖機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73752"/>
            <a:ext cx="448056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gemma2:2b、num_predict=220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啟動時先 warm_up()。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85816"/>
            <a:ext cx="448056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7F9D8"/>
                </a:solidFill>
                <a:latin typeface="Microsoft JhengHei"/>
              </a:rPr>
              <a:t>暖機後約 5.9 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3867911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A2F23"/>
          </a:solidFill>
          <a:ln w="12700">
            <a:solidFill>
              <a:srgbClr val="2C4A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069079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6C755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34840"/>
            <a:ext cx="4480560" cy="38404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不把祕密寫進程式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873752"/>
            <a:ext cx="448056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本機用環境變數；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Apps Script 用指令碼屬性。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385816"/>
            <a:ext cx="448056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7F9D8"/>
                </a:solidFill>
                <a:latin typeface="Microsoft JhengHei"/>
              </a:rPr>
              <a:t>交件前掃描 0 金鑰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F8A7B"/>
                </a:solidFill>
                <a:latin typeface="Microsoft JhengHei"/>
              </a:rPr>
              <a:t>LINE Bot × Local LLM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10528"/>
            <a:ext cx="59436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F8A7B"/>
                </a:solidFill>
                <a:latin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572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49B43"/>
                </a:solidFill>
                <a:latin typeface="Microsoft JhengHei"/>
              </a:rPr>
              <a:t>04 /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019"/>
                </a:solidFill>
                <a:latin typeface="Microsoft JhengHei"/>
              </a:rPr>
              <a:t>測試：17/17，沒有僥倖。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920240"/>
            <a:ext cx="2103120" cy="502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49B43"/>
                </a:solidFill>
                <a:latin typeface="Microsoft JhengHei"/>
              </a:rPr>
              <a:t>17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50592"/>
            <a:ext cx="21031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2019"/>
                </a:solidFill>
                <a:latin typeface="Microsoft JhengHei"/>
              </a:rPr>
              <a:t>單元測試通過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743200"/>
            <a:ext cx="21031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56C"/>
                </a:solidFill>
                <a:latin typeface="Microsoft JhengHei"/>
              </a:rPr>
              <a:t>不需要 LINE token 或 Ollama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178308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920240"/>
            <a:ext cx="2103120" cy="502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49B43"/>
                </a:solidFill>
                <a:latin typeface="Microsoft JhengHei"/>
              </a:rPr>
              <a:t>0.3 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450592"/>
            <a:ext cx="21031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2019"/>
                </a:solidFill>
                <a:latin typeface="Microsoft JhengHei"/>
              </a:rPr>
              <a:t>暖機後記帳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743200"/>
            <a:ext cx="21031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56C"/>
                </a:solidFill>
                <a:latin typeface="Microsoft JhengHei"/>
              </a:rPr>
              <a:t>本地累計即時更新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8" y="178308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920240"/>
            <a:ext cx="2103120" cy="502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49B43"/>
                </a:solidFill>
                <a:latin typeface="Microsoft JhengHei"/>
              </a:rPr>
              <a:t>16.2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450592"/>
            <a:ext cx="21031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2019"/>
                </a:solidFill>
                <a:latin typeface="Microsoft JhengHei"/>
              </a:rPr>
              <a:t>冷啟動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743200"/>
            <a:ext cx="21031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56C"/>
                </a:solidFill>
                <a:latin typeface="Microsoft JhengHei"/>
              </a:rPr>
              <a:t>模型載入是主要成本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178308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33688" y="1920240"/>
            <a:ext cx="2103120" cy="502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49B43"/>
                </a:solidFill>
                <a:latin typeface="Microsoft JhengHe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3688" y="2450592"/>
            <a:ext cx="21031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2019"/>
                </a:solidFill>
                <a:latin typeface="Microsoft JhengHei"/>
              </a:rPr>
              <a:t>敏感資料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33688" y="2743200"/>
            <a:ext cx="21031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56C"/>
                </a:solidFill>
                <a:latin typeface="Microsoft JhengHei"/>
              </a:rPr>
              <a:t>git 追蹤檔案掃描結果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611880"/>
            <a:ext cx="4572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8A4C"/>
                </a:solidFill>
                <a:latin typeface="Microsoft JhengHei"/>
              </a:rPr>
              <a:t>還沒解決的限制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41648"/>
            <a:ext cx="2743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8A4C"/>
                </a:solidFill>
                <a:latin typeface="Microsoft JhengHe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041648"/>
            <a:ext cx="9875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56C"/>
                </a:solidFill>
                <a:latin typeface="Microsoft JhengHei"/>
              </a:rPr>
              <a:t>電腦要開著；休眠或 Ollama 沒開就查不到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480560"/>
            <a:ext cx="2743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8A4C"/>
                </a:solidFill>
                <a:latin typeface="Microsoft JhengHe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480560"/>
            <a:ext cx="9875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56C"/>
                </a:solidFill>
                <a:latin typeface="Microsoft JhengHei"/>
              </a:rPr>
              <a:t>ngrok 免費網址會變，換了要更新設定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919472"/>
            <a:ext cx="2743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8A4C"/>
                </a:solidFill>
                <a:latin typeface="Microsoft Jheng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19472"/>
            <a:ext cx="9875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56C"/>
                </a:solidFill>
                <a:latin typeface="Microsoft JhengHei"/>
              </a:rPr>
              <a:t>只讀 RSS／摘要，沒有抓文章正文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358383"/>
            <a:ext cx="2743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8A4C"/>
                </a:solidFill>
                <a:latin typeface="Microsoft JhengHe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58383"/>
            <a:ext cx="9875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56C"/>
                </a:solidFill>
                <a:latin typeface="Microsoft JhengHei"/>
              </a:rPr>
              <a:t>Webhook 尚未驗證 LINE 簽章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852160"/>
            <a:ext cx="10927080" cy="502920"/>
          </a:xfrm>
          <a:prstGeom prst="roundRect">
            <a:avLst>
              <a:gd name="adj" fmla="val 18000"/>
            </a:avLst>
          </a:prstGeom>
          <a:solidFill>
            <a:srgbClr val="142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907024"/>
            <a:ext cx="10424160" cy="3657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7F9D8"/>
                </a:solidFill>
                <a:latin typeface="Microsoft JhengHei"/>
              </a:rPr>
              <a:t>LINE 端到端需要 token；交件前以同一個 /ask 流程的展示頁做回歸測試。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B9A91"/>
                </a:solidFill>
                <a:latin typeface="Microsoft JhengHei"/>
              </a:rPr>
              <a:t>LINE Bot × Local LLM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10528"/>
            <a:ext cx="59436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B9A91"/>
                </a:solidFill>
                <a:latin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0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572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C755"/>
                </a:solidFill>
                <a:latin typeface="Microsoft JhengHei"/>
              </a:rPr>
              <a:t>05 /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6583680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下一步：從課堂 demo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變成每天可用的工具。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514600"/>
            <a:ext cx="457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C755"/>
                </a:solidFill>
                <a:latin typeface="Microsoft Jheng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2496312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固定網域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862072"/>
            <a:ext cx="2468880" cy="594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Cloudflare Tunnel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取代會變的 ngrok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21608" y="2514600"/>
            <a:ext cx="457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C755"/>
                </a:solidFill>
                <a:latin typeface="Microsoft Jheng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3088" y="2496312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Webhook 簽章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3088" y="2862072"/>
            <a:ext cx="2468880" cy="594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驗證 X-Line-Signature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＋ allowlist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23360"/>
            <a:ext cx="457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C755"/>
                </a:solidFill>
                <a:latin typeface="Microsoft JhengHei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005072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記帳進化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4370832"/>
            <a:ext cx="2468880" cy="594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AI 分類／預算警示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或使用者自訂類別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4023360"/>
            <a:ext cx="457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C755"/>
                </a:solidFill>
                <a:latin typeface="Microsoft JhengHe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3088" y="4005072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檢索進化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3088" y="4370832"/>
            <a:ext cx="2468880" cy="594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抓正文做 RAG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＋雲端模型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560320"/>
            <a:ext cx="347472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7F9D8"/>
                </a:solidFill>
                <a:latin typeface="Microsoft JhengHei"/>
              </a:rPr>
              <a:t>90 秒，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47472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讓它跑一次。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160520"/>
            <a:ext cx="347472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06C755"/>
                </a:solidFill>
                <a:latin typeface="Microsoft JhengHei"/>
              </a:rPr>
              <a:t>謝謝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5074920"/>
            <a:ext cx="32918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8A7B"/>
                </a:solidFill>
                <a:latin typeface="Microsoft JhengHei"/>
              </a:rPr>
              <a:t>問題與指教歡迎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F8A7B"/>
                </a:solidFill>
                <a:latin typeface="Microsoft JhengHei"/>
              </a:rPr>
              <a:t>LINE Bot × Local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10528"/>
            <a:ext cx="59436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F8A7B"/>
                </a:solidFill>
                <a:latin typeface="Microsoft JhengHei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