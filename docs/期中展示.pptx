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0:00–0:10｜開場。這是一個放在 LINE 裡的助手，只做兩件事：查資料、記事情。今天用展示頁跑給大家看，因為它和 LINE 版共用同一個流程，但不需要把 token 放進畫面。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0:10–0:20｜問題有三個：查資料要跳 App、待辦散在聊天、雲端 AI 有費用與隱私顾虑。這個專案給誰用？主要是常用 LINE 的學生與小型團隊。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0:20–0:55｜先講兩種模式，再點『查 玉山有多高』。等待時指右側流程：Apps Script 收訊息、Flask 搜尋、Ollama 生成。答案出來後指來源與 5.9 秒。接著點『買牛奶』，讓待辦出現在右側。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1:05–1:18｜雲端只負責收發與轉接，搜尋與推論在自己的電腦。三個設計理由：Apps Script 不用養伺服器；本機模型免逐字費用；附來源讓使用者可以查證。最大限制是電腦要開著。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1:18–1:25｜如果時間不夠，只講兩個：非同步避免逾時、先搜尋再生成所以有來源。2B 與暖機是為了在 CPU 上把延遲壓到可接受。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1:25–1:35｜11 個測試全過，暖機後 5.9 秒，掃描 0 金鑰。限制要主動講：電腦要開、網址會變、搜尋很淺、Webhook 還沒驗簽章。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1:35–1:30｜收尾。下一步是固定網域、補 Webhook 簽章、待辦進化、檢索進化。最後說：90 秒，讓它跑一次，謝謝。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57200"/>
            <a:ext cx="2606040" cy="347472"/>
          </a:xfrm>
          <a:prstGeom prst="roundRect">
            <a:avLst>
              <a:gd name="adj" fmla="val 50000"/>
            </a:avLst>
          </a:prstGeom>
          <a:solidFill>
            <a:srgbClr val="1C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2606040" cy="32918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7F9D8"/>
                </a:solidFill>
                <a:latin typeface="Microsoft JhengHei"/>
              </a:rPr>
              <a:t>MIDTERM PROJECT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667512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Microsoft JhengHei"/>
              </a:rPr>
              <a:t>把 LINE 變成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55648"/>
            <a:ext cx="667512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6C755"/>
                </a:solidFill>
                <a:latin typeface="Microsoft JhengHei"/>
              </a:rPr>
              <a:t>會查資料的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487168"/>
            <a:ext cx="667512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Microsoft JhengHei"/>
              </a:rPr>
              <a:t>待辦小幫手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11880"/>
            <a:ext cx="6126480" cy="914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8D3C3"/>
                </a:solidFill>
                <a:latin typeface="Microsoft JhengHei"/>
              </a:rPr>
              <a:t>同一個聊天視窗，兩種工作流：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8D3C3"/>
                </a:solidFill>
                <a:latin typeface="Microsoft JhengHei"/>
              </a:rPr>
              <a:t>「查 …」得到有來源的答案；其他訊息自動變成待辦。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75488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1C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773168"/>
            <a:ext cx="1234440" cy="32918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6C755"/>
                </a:solidFill>
                <a:latin typeface="Microsoft JhengHei"/>
              </a:rPr>
              <a:t>本機推論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475488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1C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4773168"/>
            <a:ext cx="1234440" cy="32918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8A4C"/>
                </a:solidFill>
                <a:latin typeface="Microsoft JhengHei"/>
              </a:rPr>
              <a:t>免 API 費用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475488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1C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4773168"/>
            <a:ext cx="1234440" cy="32918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7F9D8"/>
                </a:solidFill>
                <a:latin typeface="Microsoft JhengHei"/>
              </a:rPr>
              <a:t>附上來源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989320"/>
            <a:ext cx="685800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F8A7B"/>
                </a:solidFill>
                <a:latin typeface="Microsoft JhengHei"/>
              </a:rPr>
              <a:t>90 秒 Demo：查 玉山有多高  →  買牛奶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658368"/>
            <a:ext cx="3977639" cy="5440680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12700">
            <a:solidFill>
              <a:srgbClr val="2C4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hone-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4112" y="777240"/>
            <a:ext cx="3862524" cy="52120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0080" y="6510528"/>
            <a:ext cx="4572000" cy="2011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F8A7B"/>
                </a:solidFill>
                <a:latin typeface="Microsoft JhengHei"/>
              </a:rPr>
              <a:t>LINE Bot × Local LLM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10528"/>
            <a:ext cx="594360" cy="2011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F8A7B"/>
                </a:solidFill>
                <a:latin typeface="Microsoft Jheng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45720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49B43"/>
                </a:solidFill>
                <a:latin typeface="Microsoft JhengHei"/>
              </a:rPr>
              <a:t>01 /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515600" cy="11887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2019"/>
                </a:solidFill>
                <a:latin typeface="Microsoft JhengHei"/>
              </a:rPr>
              <a:t>問題不是「沒有 AI」，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2019"/>
                </a:solidFill>
                <a:latin typeface="Microsoft JhengHei"/>
              </a:rPr>
              <a:t>是每天多做了幾次切換。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2331720"/>
            <a:ext cx="3456432" cy="260604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F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42032"/>
            <a:ext cx="54864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49B43"/>
                </a:solidFill>
                <a:latin typeface="Microsoft Jheng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292608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2019"/>
                </a:solidFill>
                <a:latin typeface="Microsoft JhengHei"/>
              </a:rPr>
              <a:t>查資料要跳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47288"/>
            <a:ext cx="2880360" cy="12344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756C"/>
                </a:solidFill>
                <a:latin typeface="Microsoft JhengHei"/>
              </a:rPr>
              <a:t>在 LINE 看到問題，切到瀏覽器搜尋，看完再切回來。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756C"/>
                </a:solidFill>
                <a:latin typeface="Microsoft JhengHei"/>
              </a:rPr>
              <a:t>注意力被切成三段。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7" y="2331720"/>
            <a:ext cx="3456432" cy="260604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F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542032"/>
            <a:ext cx="54864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49B43"/>
                </a:solidFill>
                <a:latin typeface="Microsoft Jheng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926080"/>
            <a:ext cx="292608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2019"/>
                </a:solidFill>
                <a:latin typeface="Microsoft JhengHei"/>
              </a:rPr>
              <a:t>待辦散在聊天裡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447288"/>
            <a:ext cx="2880360" cy="12344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756C"/>
                </a:solidFill>
                <a:latin typeface="Microsoft JhengHei"/>
              </a:rPr>
              <a:t>「買牛奶」被後面的訊息洗掉；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756C"/>
                </a:solidFill>
                <a:latin typeface="Microsoft JhengHei"/>
              </a:rPr>
              <a:t>記事軟體又常常懶得開。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6448" y="2331720"/>
            <a:ext cx="3456432" cy="260604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F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542032"/>
            <a:ext cx="54864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49B43"/>
                </a:solidFill>
                <a:latin typeface="Microsoft JhengHe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926080"/>
            <a:ext cx="292608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2019"/>
                </a:solidFill>
                <a:latin typeface="Microsoft JhengHei"/>
              </a:rPr>
              <a:t>雲端 AI 有成本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447288"/>
            <a:ext cx="2880360" cy="12344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756C"/>
                </a:solidFill>
                <a:latin typeface="Microsoft JhengHei"/>
              </a:rPr>
              <a:t>逐字計費、需要 API key；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756C"/>
                </a:solidFill>
                <a:latin typeface="Microsoft JhengHei"/>
              </a:rPr>
              <a:t>敏感內容也不一定想送出門。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349240"/>
            <a:ext cx="10927080" cy="777240"/>
          </a:xfrm>
          <a:prstGeom prst="roundRect">
            <a:avLst>
              <a:gd name="adj" fmla="val 18000"/>
            </a:avLst>
          </a:prstGeom>
          <a:solidFill>
            <a:srgbClr val="142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440680"/>
            <a:ext cx="10424160" cy="5029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7F9D8"/>
                </a:solidFill>
                <a:latin typeface="Microsoft JhengHei"/>
              </a:rPr>
              <a:t>主要使用者：常用 LINE 的學生與小型團隊　·　設計目標：不離開聊天室、答案可查證、沒有逐字費用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4572000" cy="2011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B9A91"/>
                </a:solidFill>
                <a:latin typeface="Microsoft JhengHei"/>
              </a:rPr>
              <a:t>LINE Bot × Local LLM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10528"/>
            <a:ext cx="594360" cy="2011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B9A91"/>
                </a:solidFill>
                <a:latin typeface="Microsoft Jheng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45720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49B43"/>
                </a:solidFill>
                <a:latin typeface="Microsoft JhengHei"/>
              </a:rPr>
              <a:t>02 /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7315200" cy="640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2019"/>
                </a:solidFill>
                <a:latin typeface="Microsoft JhengHei"/>
              </a:rPr>
              <a:t>一個入口，兩種工作流。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783080"/>
            <a:ext cx="6720840" cy="196596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2700">
            <a:solidFill>
              <a:srgbClr val="06C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9144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49B43"/>
                </a:solidFill>
                <a:latin typeface="Microsoft JhengHei"/>
              </a:rPr>
              <a:t>查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50592"/>
            <a:ext cx="612648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2019"/>
                </a:solidFill>
                <a:latin typeface="Microsoft JhengHei"/>
              </a:rPr>
              <a:t>先搜尋，再讓本機模型整理；答案最後附來源。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07792"/>
            <a:ext cx="6035040" cy="640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56C"/>
                </a:solidFill>
                <a:latin typeface="Microsoft JhengHei"/>
              </a:rPr>
              <a:t>查 玉山有多高   →   3,950 公尺＋Wikipedia 來源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56C"/>
                </a:solidFill>
                <a:latin typeface="Microsoft JhengHei"/>
              </a:rPr>
              <a:t>查 今天台灣有什麼新聞   →   新聞摘要＋媒體來源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977639"/>
            <a:ext cx="6720840" cy="169164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2700">
            <a:solidFill>
              <a:srgbClr val="FF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13716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45C21"/>
                </a:solidFill>
                <a:latin typeface="Microsoft JhengHei"/>
              </a:rPr>
              <a:t>記事情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45152"/>
            <a:ext cx="603504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2019"/>
                </a:solidFill>
                <a:latin typeface="Microsoft JhengHei"/>
              </a:rPr>
              <a:t>不是「查」開頭的訊息，直接寫進 Google Sheet 待辦。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74920"/>
            <a:ext cx="603504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756C"/>
                </a:solidFill>
                <a:latin typeface="Microsoft JhengHei"/>
              </a:rPr>
              <a:t>買牛奶   →   已記錄到待辦：買牛奶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989320"/>
            <a:ext cx="65836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49B43"/>
                </a:solidFill>
                <a:latin typeface="Microsoft JhengHei"/>
              </a:rPr>
              <a:t>同一套 /ask 流程；展示頁不需要 LINE token。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658368"/>
            <a:ext cx="3977639" cy="5440680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12700">
            <a:solidFill>
              <a:srgbClr val="DF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hone-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4112" y="777240"/>
            <a:ext cx="3862524" cy="52120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0080" y="6510528"/>
            <a:ext cx="4572000" cy="2011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B9A91"/>
                </a:solidFill>
                <a:latin typeface="Microsoft JhengHei"/>
              </a:rPr>
              <a:t>LINE Bot × Local LLM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510528"/>
            <a:ext cx="594360" cy="2011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B9A91"/>
                </a:solidFill>
                <a:latin typeface="Microsoft Jheng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1548872" cy="6496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45720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6C755"/>
                </a:solidFill>
                <a:latin typeface="Microsoft JhengHei"/>
              </a:rPr>
              <a:t>03 /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424160" cy="640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</a:rPr>
              <a:t>讓它能跑，而不是只看起來能跑。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78308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1A2F23"/>
          </a:solidFill>
          <a:ln w="12700">
            <a:solidFill>
              <a:srgbClr val="2C4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84248"/>
            <a:ext cx="50292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6C755"/>
                </a:solidFill>
                <a:latin typeface="Microsoft Jheng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50008"/>
            <a:ext cx="4480560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JhengHei"/>
              </a:rPr>
              <a:t>非同步 202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448056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8D3C3"/>
                </a:solidFill>
                <a:latin typeface="Microsoft JhengHei"/>
              </a:rPr>
              <a:t>Apps Script 先回 200，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8D3C3"/>
                </a:solidFill>
                <a:latin typeface="Microsoft JhengHei"/>
              </a:rPr>
              <a:t>Flask 算完再直接呼叫 Reply API。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00984"/>
            <a:ext cx="448056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7F9D8"/>
                </a:solidFill>
                <a:latin typeface="Microsoft JhengHei"/>
              </a:rPr>
              <a:t>避免 LINE Webhook 逾時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78308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1A2F23"/>
          </a:solidFill>
          <a:ln w="12700">
            <a:solidFill>
              <a:srgbClr val="2C4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84248"/>
            <a:ext cx="50292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6C755"/>
                </a:solidFill>
                <a:latin typeface="Microsoft Jheng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50008"/>
            <a:ext cx="4480560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JhengHei"/>
              </a:rPr>
              <a:t>先搜尋，再生成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788920"/>
            <a:ext cx="448056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8D3C3"/>
                </a:solidFill>
                <a:latin typeface="Microsoft JhengHei"/>
              </a:rPr>
              <a:t>Google News RSS＋Wikipedia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8D3C3"/>
                </a:solidFill>
                <a:latin typeface="Microsoft JhengHei"/>
              </a:rPr>
              <a:t>只把前 3 筆放進 prompt。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300984"/>
            <a:ext cx="448056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7F9D8"/>
                </a:solidFill>
                <a:latin typeface="Microsoft JhengHei"/>
              </a:rPr>
              <a:t>答案附來源，降低幻覺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867911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1A2F23"/>
          </a:solidFill>
          <a:ln w="12700">
            <a:solidFill>
              <a:srgbClr val="2C4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69079"/>
            <a:ext cx="50292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6C755"/>
                </a:solidFill>
                <a:latin typeface="Microsoft Jheng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34840"/>
            <a:ext cx="4480560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JhengHei"/>
              </a:rPr>
              <a:t>2B＋暖機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73752"/>
            <a:ext cx="448056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8D3C3"/>
                </a:solidFill>
                <a:latin typeface="Microsoft JhengHei"/>
              </a:rPr>
              <a:t>gemma2:2b、num_predict=220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8D3C3"/>
                </a:solidFill>
                <a:latin typeface="Microsoft JhengHei"/>
              </a:rPr>
              <a:t>啟動時先 warm_up()。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85816"/>
            <a:ext cx="448056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7F9D8"/>
                </a:solidFill>
                <a:latin typeface="Microsoft JhengHei"/>
              </a:rPr>
              <a:t>暖機後約 5.9 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3867911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1A2F23"/>
          </a:solidFill>
          <a:ln w="12700">
            <a:solidFill>
              <a:srgbClr val="2C4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069079"/>
            <a:ext cx="50292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6C755"/>
                </a:solidFill>
                <a:latin typeface="Microsoft Jheng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434840"/>
            <a:ext cx="4480560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JhengHei"/>
              </a:rPr>
              <a:t>不把祕密寫進程式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873752"/>
            <a:ext cx="448056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8D3C3"/>
                </a:solidFill>
                <a:latin typeface="Microsoft JhengHei"/>
              </a:rPr>
              <a:t>本機用環境變數；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8D3C3"/>
                </a:solidFill>
                <a:latin typeface="Microsoft JhengHei"/>
              </a:rPr>
              <a:t>Apps Script 用指令碼屬性。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5385816"/>
            <a:ext cx="448056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7F9D8"/>
                </a:solidFill>
                <a:latin typeface="Microsoft JhengHei"/>
              </a:rPr>
              <a:t>交件前掃描 0 金鑰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510528"/>
            <a:ext cx="4572000" cy="2011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F8A7B"/>
                </a:solidFill>
                <a:latin typeface="Microsoft JhengHei"/>
              </a:rPr>
              <a:t>LINE Bot × Local LLM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10528"/>
            <a:ext cx="594360" cy="2011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F8A7B"/>
                </a:solidFill>
                <a:latin typeface="Microsoft Jheng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45720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49B43"/>
                </a:solidFill>
                <a:latin typeface="Microsoft JhengHei"/>
              </a:rPr>
              <a:t>04 /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058400" cy="640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2019"/>
                </a:solidFill>
                <a:latin typeface="Microsoft JhengHei"/>
              </a:rPr>
              <a:t>測試：11/11，沒有僥倖。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78308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F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20240"/>
            <a:ext cx="2103120" cy="5029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49B43"/>
                </a:solidFill>
                <a:latin typeface="Microsoft JhengHei"/>
              </a:rPr>
              <a:t>11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450592"/>
            <a:ext cx="210312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22019"/>
                </a:solidFill>
                <a:latin typeface="Microsoft JhengHei"/>
              </a:rPr>
              <a:t>單元測試通過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743200"/>
            <a:ext cx="210312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756C"/>
                </a:solidFill>
                <a:latin typeface="Microsoft JhengHei"/>
              </a:rPr>
              <a:t>不需要 LINE token 或 Ollama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5848" y="178308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F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38728" y="1920240"/>
            <a:ext cx="2103120" cy="5029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49B43"/>
                </a:solidFill>
                <a:latin typeface="Microsoft JhengHei"/>
              </a:rPr>
              <a:t>5.9 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8728" y="2450592"/>
            <a:ext cx="210312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22019"/>
                </a:solidFill>
                <a:latin typeface="Microsoft JhengHei"/>
              </a:rPr>
              <a:t>暖機後查詢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2743200"/>
            <a:ext cx="210312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756C"/>
                </a:solidFill>
                <a:latin typeface="Microsoft JhengHei"/>
              </a:rPr>
              <a:t>展示頁實測，含搜尋與生成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53328" y="178308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F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8" y="1920240"/>
            <a:ext cx="2103120" cy="5029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49B43"/>
                </a:solidFill>
                <a:latin typeface="Microsoft JhengHei"/>
              </a:rPr>
              <a:t>16.2 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8" y="2450592"/>
            <a:ext cx="210312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22019"/>
                </a:solidFill>
                <a:latin typeface="Microsoft JhengHei"/>
              </a:rPr>
              <a:t>冷啟動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743200"/>
            <a:ext cx="210312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756C"/>
                </a:solidFill>
                <a:latin typeface="Microsoft JhengHei"/>
              </a:rPr>
              <a:t>模型載入是主要成本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50808" y="178308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F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33688" y="1920240"/>
            <a:ext cx="2103120" cy="5029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49B43"/>
                </a:solidFill>
                <a:latin typeface="Microsoft JhengHei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3688" y="2450592"/>
            <a:ext cx="210312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22019"/>
                </a:solidFill>
                <a:latin typeface="Microsoft JhengHei"/>
              </a:rPr>
              <a:t>敏感資料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33688" y="2743200"/>
            <a:ext cx="210312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756C"/>
                </a:solidFill>
                <a:latin typeface="Microsoft JhengHei"/>
              </a:rPr>
              <a:t>git 追蹤檔案掃描結果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611880"/>
            <a:ext cx="45720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8A4C"/>
                </a:solidFill>
                <a:latin typeface="Microsoft JhengHei"/>
              </a:rPr>
              <a:t>還沒解決的限制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041648"/>
            <a:ext cx="27432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8A4C"/>
                </a:solidFill>
                <a:latin typeface="Microsoft JhengHei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041648"/>
            <a:ext cx="987552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756C"/>
                </a:solidFill>
                <a:latin typeface="Microsoft JhengHei"/>
              </a:rPr>
              <a:t>電腦要開著；休眠或 Ollama 沒開就查不到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480560"/>
            <a:ext cx="27432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8A4C"/>
                </a:solidFill>
                <a:latin typeface="Microsoft JhengHei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480560"/>
            <a:ext cx="987552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756C"/>
                </a:solidFill>
                <a:latin typeface="Microsoft JhengHei"/>
              </a:rPr>
              <a:t>ngrok 免費網址會變，換了要更新設定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919472"/>
            <a:ext cx="27432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8A4C"/>
                </a:solidFill>
                <a:latin typeface="Microsoft JhengHei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919472"/>
            <a:ext cx="987552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756C"/>
                </a:solidFill>
                <a:latin typeface="Microsoft JhengHei"/>
              </a:rPr>
              <a:t>只讀 RSS／摘要，沒有抓文章正文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358383"/>
            <a:ext cx="27432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8A4C"/>
                </a:solidFill>
                <a:latin typeface="Microsoft JhengHei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358383"/>
            <a:ext cx="987552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756C"/>
                </a:solidFill>
                <a:latin typeface="Microsoft JhengHei"/>
              </a:rPr>
              <a:t>Webhook 尚未驗證 LINE 簽章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852160"/>
            <a:ext cx="10927080" cy="502920"/>
          </a:xfrm>
          <a:prstGeom prst="roundRect">
            <a:avLst>
              <a:gd name="adj" fmla="val 18000"/>
            </a:avLst>
          </a:prstGeom>
          <a:solidFill>
            <a:srgbClr val="142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907024"/>
            <a:ext cx="10424160" cy="3657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C7F9D8"/>
                </a:solidFill>
                <a:latin typeface="Microsoft JhengHei"/>
              </a:rPr>
              <a:t>LINE 端到端需要 token；交件前以同一個 /ask 流程的展示頁做回歸測試。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510528"/>
            <a:ext cx="4572000" cy="2011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B9A91"/>
                </a:solidFill>
                <a:latin typeface="Microsoft JhengHei"/>
              </a:rPr>
              <a:t>LINE Bot × Local LLM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510528"/>
            <a:ext cx="594360" cy="2011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B9A91"/>
                </a:solidFill>
                <a:latin typeface="Microsoft Jheng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45720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6C755"/>
                </a:solidFill>
                <a:latin typeface="Microsoft JhengHei"/>
              </a:rPr>
              <a:t>05 /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6583680" cy="12801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</a:rPr>
              <a:t>下一步：從課堂 demo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</a:rPr>
              <a:t>變成每天可用的工具。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514600"/>
            <a:ext cx="4572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6C755"/>
                </a:solidFill>
                <a:latin typeface="Microsoft Jheng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2496312"/>
            <a:ext cx="237744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固定網域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862072"/>
            <a:ext cx="2468880" cy="5943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B8D3C3"/>
                </a:solidFill>
                <a:latin typeface="Microsoft JhengHei"/>
              </a:rPr>
              <a:t>Cloudflare Tunnel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B8D3C3"/>
                </a:solidFill>
                <a:latin typeface="Microsoft JhengHei"/>
              </a:rPr>
              <a:t>取代會變的 ngrok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21608" y="2514600"/>
            <a:ext cx="4572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6C755"/>
                </a:solidFill>
                <a:latin typeface="Microsoft JhengHe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33088" y="2496312"/>
            <a:ext cx="237744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Webhook 簽章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33088" y="2862072"/>
            <a:ext cx="2468880" cy="5943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B8D3C3"/>
                </a:solidFill>
                <a:latin typeface="Microsoft JhengHei"/>
              </a:rPr>
              <a:t>驗證 X-Line-Signature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B8D3C3"/>
                </a:solidFill>
                <a:latin typeface="Microsoft JhengHei"/>
              </a:rPr>
              <a:t>＋ allowlist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023360"/>
            <a:ext cx="4572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6C755"/>
                </a:solidFill>
                <a:latin typeface="Microsoft JhengHei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4005072"/>
            <a:ext cx="237744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待辦進化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4370832"/>
            <a:ext cx="2468880" cy="5943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B8D3C3"/>
                </a:solidFill>
                <a:latin typeface="Microsoft JhengHei"/>
              </a:rPr>
              <a:t>列表／完成／刪除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B8D3C3"/>
                </a:solidFill>
                <a:latin typeface="Microsoft JhengHei"/>
              </a:rPr>
              <a:t>或串 Google Tasks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4023360"/>
            <a:ext cx="4572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6C755"/>
                </a:solidFill>
                <a:latin typeface="Microsoft JhengHei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33088" y="4005072"/>
            <a:ext cx="237744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檢索進化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33088" y="4370832"/>
            <a:ext cx="2468880" cy="5943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B8D3C3"/>
                </a:solidFill>
                <a:latin typeface="Microsoft JhengHei"/>
              </a:rPr>
              <a:t>抓正文做 RAG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B8D3C3"/>
                </a:solidFill>
                <a:latin typeface="Microsoft JhengHei"/>
              </a:rPr>
              <a:t>＋雲端模型 fallback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560320"/>
            <a:ext cx="347472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7F9D8"/>
                </a:solidFill>
                <a:latin typeface="Microsoft JhengHei"/>
              </a:rPr>
              <a:t>90 秒，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3127248"/>
            <a:ext cx="347472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icrosoft JhengHei"/>
              </a:rPr>
              <a:t>讓它跑一次。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4160520"/>
            <a:ext cx="3474720" cy="8229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06C755"/>
                </a:solidFill>
                <a:latin typeface="Microsoft JhengHei"/>
              </a:rPr>
              <a:t>謝謝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5074920"/>
            <a:ext cx="329184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8A7B"/>
                </a:solidFill>
                <a:latin typeface="Microsoft JhengHei"/>
              </a:rPr>
              <a:t>問題與指教歡迎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510528"/>
            <a:ext cx="4572000" cy="2011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F8A7B"/>
                </a:solidFill>
                <a:latin typeface="Microsoft JhengHei"/>
              </a:rPr>
              <a:t>LINE Bot × Local LLM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10528"/>
            <a:ext cx="594360" cy="2011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F8A7B"/>
                </a:solidFill>
                <a:latin typeface="Microsoft JhengHei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